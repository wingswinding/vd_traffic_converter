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2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B3626F-3BE0-94CE-F9AA-3600F0D17B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2B3C86E-0C86-A32B-A700-0AE7E89870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94FA4F6-9589-12B4-87C1-683869E89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34A67-7BCF-42B5-B117-B1623972DA50}" type="datetimeFigureOut">
              <a:rPr lang="zh-TW" altLang="en-US" smtClean="0"/>
              <a:t>2023/3/17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13375BF-AFFB-9C2D-CB6F-552A6FA46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7E7DA38-CEBB-CCDB-4232-E4764C25A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EC959-CEFC-4A77-B549-0A9D72C4E3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2713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2C7DAE2-56F8-4B27-BFA4-4F2591AA9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3DAF17-48D3-0951-00B1-E489BADBA8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0E7F4D9-DFDF-B7C5-39AF-788362137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34A67-7BCF-42B5-B117-B1623972DA50}" type="datetimeFigureOut">
              <a:rPr lang="zh-TW" altLang="en-US" smtClean="0"/>
              <a:t>2023/3/17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55A1FDB-D2EA-D5FB-945D-23949DC6D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1C72242-F607-CBDC-E6B8-8CA3C1EAE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EC959-CEFC-4A77-B549-0A9D72C4E3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6424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DF535BE-B42F-1521-A729-0C80F4471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EFB3A73-1A93-2677-C108-F43E3E4BDE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7D750C4-A623-39AA-5760-3B385B6E2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34A67-7BCF-42B5-B117-B1623972DA50}" type="datetimeFigureOut">
              <a:rPr lang="zh-TW" altLang="en-US" smtClean="0"/>
              <a:t>2023/3/17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9634135-07E3-4E61-1E06-250BF9D3B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1778CF0-AD7F-3C06-C8A5-214DCE72E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EC959-CEFC-4A77-B549-0A9D72C4E3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9679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E535E93-437B-6EBA-BC2A-1FB673FA0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A99522D-A749-79F0-3A34-F57C1C551E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4448987-D82D-1EBC-A4B1-FB80BD579C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578D0E9-22AD-1ECF-F2B5-BA30382D5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34A67-7BCF-42B5-B117-B1623972DA50}" type="datetimeFigureOut">
              <a:rPr lang="zh-TW" altLang="en-US" smtClean="0"/>
              <a:t>2023/3/17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5605460-F8A8-5DBF-B206-E0DC273A6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5B45851-981B-E76C-7ECB-A07650859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EC959-CEFC-4A77-B549-0A9D72C4E3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6710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49FD35C-659D-3FF6-B54B-B9B278478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D283661-2EC5-B514-6FC8-07B1D878FA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8F62F1D-D08A-4008-E9F0-EFC5F277BE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F04F29B4-828C-A135-F4AC-F1FEDEC2C3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52E51761-4FF9-FEE9-4794-4BE50459AF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1A27B81-2A86-ACBE-F65D-F56483862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34A67-7BCF-42B5-B117-B1623972DA50}" type="datetimeFigureOut">
              <a:rPr lang="zh-TW" altLang="en-US" smtClean="0"/>
              <a:t>2023/3/17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D054E7A8-453D-D384-7CA1-08198CB61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43C83BF2-C166-0F96-979A-D392D5161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EC959-CEFC-4A77-B549-0A9D72C4E3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988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6AFB2B-1327-1EC8-8923-4D844A8BD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D12BA724-D16C-CFAE-D3F1-8A3DA8FA8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34A67-7BCF-42B5-B117-B1623972DA50}" type="datetimeFigureOut">
              <a:rPr lang="zh-TW" altLang="en-US" smtClean="0"/>
              <a:t>2023/3/17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A51E1A7-35BF-2AA8-C175-C573C17CD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A96E984-38B2-F871-CF82-4CE5458EE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EC959-CEFC-4A77-B549-0A9D72C4E3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2119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A71D521C-552D-5074-0288-76C5ECBB8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34A67-7BCF-42B5-B117-B1623972DA50}" type="datetimeFigureOut">
              <a:rPr lang="zh-TW" altLang="en-US" smtClean="0"/>
              <a:t>2023/3/17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B6C0B6A6-37BE-7EB1-4435-E11976E14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E01CB56-2EAC-515C-46BA-F782BACCD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EC959-CEFC-4A77-B549-0A9D72C4E3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74595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C98AF58-883F-6F85-87F7-8B5BD87C1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B5742D2-01C5-9312-EE40-3F8C33A6D1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4766077-710A-A8B8-2A0E-3BAE921882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8987DF1-52FF-66D8-C27B-AA05A07D9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34A67-7BCF-42B5-B117-B1623972DA50}" type="datetimeFigureOut">
              <a:rPr lang="zh-TW" altLang="en-US" smtClean="0"/>
              <a:t>2023/3/17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3AAAF84-9B01-7B45-57D9-5ADEB3071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5E53323-6D2D-6B4F-D013-3E939BFCE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EC959-CEFC-4A77-B549-0A9D72C4E3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85928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38F1510-EFC1-9A5A-8B09-84DF577D1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28C81651-6716-942B-129B-2C6C2041DD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35FD5A8-A836-FA67-9F12-E2889ECA41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7BA2C61-5DDE-D5F8-EF81-D19529589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34A67-7BCF-42B5-B117-B1623972DA50}" type="datetimeFigureOut">
              <a:rPr lang="zh-TW" altLang="en-US" smtClean="0"/>
              <a:t>2023/3/17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DB7BA4C-8F55-072F-CA92-E8FB8B282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81062EE-FF8B-E9A3-4E6B-213152E66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EC959-CEFC-4A77-B549-0A9D72C4E3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5742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D42F7AE-67E9-EE92-B89B-EC979D3E3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F7CA2EC-8DB7-144F-AE04-957A186FEB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19BFB5F-D0DA-DB46-950C-C0B125A8D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34A67-7BCF-42B5-B117-B1623972DA50}" type="datetimeFigureOut">
              <a:rPr lang="zh-TW" altLang="en-US" smtClean="0"/>
              <a:t>2023/3/17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CA51C0A-2C9C-40F8-1D94-171279793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2525016-5517-2CB7-E990-5D6EFD889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EC959-CEFC-4A77-B549-0A9D72C4E3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957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996C1F5A-79DE-004F-C612-C31FB12E20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BEA5257-9E39-7C6E-E06A-861111C1BA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D197AAC-640A-6014-D51A-C485C8106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34A67-7BCF-42B5-B117-B1623972DA50}" type="datetimeFigureOut">
              <a:rPr lang="zh-TW" altLang="en-US" smtClean="0"/>
              <a:t>2023/3/17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A6803B3-55E8-04E6-6966-ACED60A71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BDB2341-4673-E968-6369-1AD16930B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EC959-CEFC-4A77-B549-0A9D72C4E3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2287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D9F89D5D-BDE1-A02E-781E-1F8231906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DDCA640-589C-1782-8B7D-D8C359ABCD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5E6FF4A-6C58-750A-D790-25D5A2F85C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34A67-7BCF-42B5-B117-B1623972DA50}" type="datetimeFigureOut">
              <a:rPr lang="zh-TW" altLang="en-US" smtClean="0"/>
              <a:t>2023/3/17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CB5C91A-6401-615E-DD49-AC44A57A2D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B6BB226-2036-5BEE-97A3-B09FB1B7D4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0EC959-CEFC-4A77-B549-0A9D72C4E3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3701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35014A0B-1E01-8AF1-7E87-20425DF7A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823" y="135143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XML-&gt;CSV-&gt;5 MIN </a:t>
            </a:r>
            <a:r>
              <a:rPr lang="zh-TW" altLang="en-US" dirty="0"/>
              <a:t>程序</a:t>
            </a:r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8DC501A-ABC1-435D-C5B2-EA5D4C542D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752" y="861418"/>
            <a:ext cx="6751123" cy="5572633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00000"/>
              </a:lnSpc>
              <a:buFont typeface="+mj-ea"/>
              <a:buAutoNum type="ea1ChtPeriod"/>
            </a:pPr>
            <a:r>
              <a:rPr lang="zh-TW" altLang="en-US" sz="2000" dirty="0"/>
              <a:t>將</a:t>
            </a:r>
            <a:r>
              <a:rPr lang="en-US" altLang="zh-TW" sz="2000" dirty="0">
                <a:solidFill>
                  <a:srgbClr val="FF0000"/>
                </a:solidFill>
              </a:rPr>
              <a:t>X2CSV_5min.exe</a:t>
            </a:r>
            <a:r>
              <a:rPr lang="zh-TW" altLang="en-US" sz="2000" dirty="0"/>
              <a:t>與原始 *</a:t>
            </a:r>
            <a:r>
              <a:rPr lang="en-US" altLang="zh-TW" sz="2000" dirty="0"/>
              <a:t>XML</a:t>
            </a:r>
            <a:r>
              <a:rPr lang="zh-TW" altLang="en-US" sz="2000" dirty="0"/>
              <a:t>檔案</a:t>
            </a:r>
            <a:r>
              <a:rPr lang="en-US" altLang="zh-TW" sz="2000" dirty="0"/>
              <a:t> </a:t>
            </a:r>
            <a:r>
              <a:rPr lang="zh-TW" altLang="en-US" sz="2000" dirty="0"/>
              <a:t>放在同一工作目錄</a:t>
            </a:r>
            <a:endParaRPr lang="en-US" altLang="zh-TW" sz="2000" dirty="0"/>
          </a:p>
          <a:p>
            <a:pPr marL="457200" indent="-457200">
              <a:lnSpc>
                <a:spcPct val="100000"/>
              </a:lnSpc>
              <a:buFont typeface="+mj-lt"/>
              <a:buAutoNum type="ea1ChtPeriod"/>
            </a:pPr>
            <a:r>
              <a:rPr lang="zh-TW" altLang="en-US" sz="2000" dirty="0"/>
              <a:t>程式會分為二階段執行執行</a:t>
            </a:r>
            <a:endParaRPr lang="en-US" altLang="zh-TW" sz="2000" dirty="0"/>
          </a:p>
          <a:p>
            <a:pPr marL="914400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TW" altLang="en-US" sz="1800" dirty="0">
                <a:solidFill>
                  <a:srgbClr val="0033CC"/>
                </a:solidFill>
              </a:rPr>
              <a:t>程序</a:t>
            </a:r>
            <a:r>
              <a:rPr lang="en-US" altLang="zh-TW" sz="1800" dirty="0">
                <a:solidFill>
                  <a:srgbClr val="0033CC"/>
                </a:solidFill>
              </a:rPr>
              <a:t>1/2</a:t>
            </a:r>
            <a:r>
              <a:rPr lang="zh-TW" altLang="en-US" sz="1800" dirty="0">
                <a:solidFill>
                  <a:srgbClr val="0033CC"/>
                </a:solidFill>
              </a:rPr>
              <a:t>：</a:t>
            </a:r>
            <a:r>
              <a:rPr lang="en-US" altLang="zh-TW" sz="1800" dirty="0">
                <a:solidFill>
                  <a:srgbClr val="0033CC"/>
                </a:solidFill>
              </a:rPr>
              <a:t>xml</a:t>
            </a:r>
            <a:r>
              <a:rPr lang="zh-TW" altLang="en-US" sz="1800" dirty="0">
                <a:solidFill>
                  <a:srgbClr val="0033CC"/>
                </a:solidFill>
              </a:rPr>
              <a:t>轉換為</a:t>
            </a:r>
            <a:r>
              <a:rPr lang="en-US" altLang="zh-TW" sz="1800" dirty="0">
                <a:solidFill>
                  <a:srgbClr val="0033CC"/>
                </a:solidFill>
              </a:rPr>
              <a:t>CSV</a:t>
            </a:r>
            <a:r>
              <a:rPr lang="zh-TW" altLang="en-US" sz="1800" dirty="0">
                <a:solidFill>
                  <a:srgbClr val="0033CC"/>
                </a:solidFill>
              </a:rPr>
              <a:t>程式</a:t>
            </a:r>
            <a:r>
              <a:rPr lang="en-US" altLang="zh-TW" sz="1800" dirty="0">
                <a:solidFill>
                  <a:srgbClr val="0033CC"/>
                </a:solidFill>
              </a:rPr>
              <a:t>(</a:t>
            </a:r>
            <a:r>
              <a:rPr lang="zh-TW" altLang="en-US" sz="1800" dirty="0">
                <a:solidFill>
                  <a:srgbClr val="0033CC"/>
                </a:solidFill>
              </a:rPr>
              <a:t>可篩選特定欄位</a:t>
            </a:r>
            <a:r>
              <a:rPr lang="en-US" altLang="zh-TW" sz="1800" dirty="0">
                <a:solidFill>
                  <a:srgbClr val="0033CC"/>
                </a:solidFill>
              </a:rPr>
              <a:t>)</a:t>
            </a:r>
          </a:p>
          <a:p>
            <a:pPr marL="1371600" lvl="2" indent="-457200">
              <a:lnSpc>
                <a:spcPct val="100000"/>
              </a:lnSpc>
              <a:buFont typeface="Wingdings" panose="05000000000000000000" pitchFamily="2" charset="2"/>
              <a:buAutoNum type="circleNumWdWhitePlain"/>
            </a:pPr>
            <a:r>
              <a:rPr lang="zh-TW" altLang="en-US" sz="1400" dirty="0">
                <a:solidFill>
                  <a:srgbClr val="FF0000"/>
                </a:solidFill>
              </a:rPr>
              <a:t>請輸入要篩選輸出的欄位名稱</a:t>
            </a:r>
            <a:r>
              <a:rPr lang="en-US" altLang="zh-TW" sz="1400" dirty="0">
                <a:solidFill>
                  <a:srgbClr val="FF0000"/>
                </a:solidFill>
              </a:rPr>
              <a:t>(VDID </a:t>
            </a:r>
            <a:r>
              <a:rPr lang="zh-TW" altLang="en-US" sz="1400" dirty="0">
                <a:solidFill>
                  <a:srgbClr val="FF0000"/>
                </a:solidFill>
              </a:rPr>
              <a:t>或是 </a:t>
            </a:r>
            <a:r>
              <a:rPr lang="en-US" altLang="zh-TW" sz="1400" dirty="0" err="1">
                <a:solidFill>
                  <a:srgbClr val="FF0000"/>
                </a:solidFill>
              </a:rPr>
              <a:t>LinkID</a:t>
            </a:r>
            <a:r>
              <a:rPr lang="en-US" altLang="zh-TW" sz="1400" dirty="0">
                <a:solidFill>
                  <a:srgbClr val="FF0000"/>
                </a:solidFill>
              </a:rPr>
              <a:t>):</a:t>
            </a:r>
          </a:p>
          <a:p>
            <a:pPr marL="1371600" lvl="2" indent="-457200">
              <a:lnSpc>
                <a:spcPct val="100000"/>
              </a:lnSpc>
              <a:buFont typeface="Wingdings" panose="05000000000000000000" pitchFamily="2" charset="2"/>
              <a:buAutoNum type="circleNumWdWhitePlain"/>
            </a:pPr>
            <a:r>
              <a:rPr lang="zh-TW" altLang="en-US" sz="1400" dirty="0">
                <a:solidFill>
                  <a:srgbClr val="FF0000"/>
                </a:solidFill>
              </a:rPr>
              <a:t>請輸入輸出的欄位內容</a:t>
            </a:r>
            <a:r>
              <a:rPr lang="en-US" altLang="zh-TW" sz="1400" dirty="0">
                <a:solidFill>
                  <a:srgbClr val="FF0000"/>
                </a:solidFill>
              </a:rPr>
              <a:t>(</a:t>
            </a:r>
            <a:r>
              <a:rPr lang="zh-TW" altLang="en-US" sz="1400" dirty="0">
                <a:solidFill>
                  <a:srgbClr val="FF0000"/>
                </a:solidFill>
              </a:rPr>
              <a:t>例如 </a:t>
            </a:r>
            <a:r>
              <a:rPr lang="en-US" altLang="zh-TW" sz="1400" dirty="0">
                <a:solidFill>
                  <a:srgbClr val="FF0000"/>
                </a:solidFill>
              </a:rPr>
              <a:t>0000101145010N):</a:t>
            </a:r>
          </a:p>
          <a:p>
            <a:pPr marL="914400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TW" altLang="en-US" sz="1800" dirty="0">
                <a:solidFill>
                  <a:srgbClr val="0033CC"/>
                </a:solidFill>
              </a:rPr>
              <a:t>程序</a:t>
            </a:r>
            <a:r>
              <a:rPr lang="en-US" altLang="zh-TW" sz="1800" dirty="0">
                <a:solidFill>
                  <a:srgbClr val="0033CC"/>
                </a:solidFill>
              </a:rPr>
              <a:t>2/2</a:t>
            </a:r>
            <a:r>
              <a:rPr lang="zh-TW" altLang="en-US" sz="1800" dirty="0">
                <a:solidFill>
                  <a:srgbClr val="0033CC"/>
                </a:solidFill>
              </a:rPr>
              <a:t>：一分鐘</a:t>
            </a:r>
            <a:r>
              <a:rPr lang="en-US" altLang="zh-TW" sz="1800" dirty="0">
                <a:solidFill>
                  <a:srgbClr val="0033CC"/>
                </a:solidFill>
              </a:rPr>
              <a:t>CSV</a:t>
            </a:r>
            <a:r>
              <a:rPr lang="zh-TW" altLang="en-US" sz="1800" dirty="0">
                <a:solidFill>
                  <a:srgbClr val="0033CC"/>
                </a:solidFill>
              </a:rPr>
              <a:t>，轉換為五分鐘</a:t>
            </a:r>
            <a:r>
              <a:rPr lang="en-US" altLang="zh-TW" sz="1800" dirty="0">
                <a:solidFill>
                  <a:srgbClr val="0033CC"/>
                </a:solidFill>
              </a:rPr>
              <a:t>CSV</a:t>
            </a:r>
            <a:r>
              <a:rPr lang="zh-TW" altLang="en-US" sz="1800" dirty="0">
                <a:solidFill>
                  <a:srgbClr val="0033CC"/>
                </a:solidFill>
              </a:rPr>
              <a:t>檔案</a:t>
            </a:r>
            <a:endParaRPr lang="en-US" altLang="zh-TW" sz="1800" dirty="0">
              <a:solidFill>
                <a:srgbClr val="0033CC"/>
              </a:solidFill>
            </a:endParaRPr>
          </a:p>
          <a:p>
            <a:pPr marL="457200" indent="-457200">
              <a:lnSpc>
                <a:spcPct val="100000"/>
              </a:lnSpc>
              <a:buFont typeface="+mj-ea"/>
              <a:buAutoNum type="ea1ChtPeriod"/>
            </a:pPr>
            <a:r>
              <a:rPr lang="zh-TW" altLang="en-US" sz="2000" dirty="0"/>
              <a:t>於 </a:t>
            </a:r>
            <a:r>
              <a:rPr lang="en-US" altLang="zh-TW" sz="2000" dirty="0"/>
              <a:t>\</a:t>
            </a:r>
            <a:r>
              <a:rPr lang="en-US" altLang="zh-TW" sz="2000" dirty="0" err="1"/>
              <a:t>converted_csv</a:t>
            </a:r>
            <a:r>
              <a:rPr lang="zh-TW" altLang="en-US" sz="2000" dirty="0"/>
              <a:t>目錄位置下會將每</a:t>
            </a:r>
            <a:r>
              <a:rPr lang="en-US" altLang="zh-TW" sz="2000" dirty="0"/>
              <a:t>5</a:t>
            </a:r>
            <a:r>
              <a:rPr lang="zh-TW" altLang="en-US" sz="2000" dirty="0"/>
              <a:t>個</a:t>
            </a:r>
            <a:r>
              <a:rPr lang="en-US" altLang="zh-TW" sz="2000" dirty="0"/>
              <a:t>1</a:t>
            </a:r>
            <a:r>
              <a:rPr lang="zh-TW" altLang="en-US" sz="2000" dirty="0"/>
              <a:t>分鐘檔案，合成一個</a:t>
            </a:r>
            <a:r>
              <a:rPr lang="en-US" altLang="zh-TW" sz="2000" dirty="0"/>
              <a:t>5</a:t>
            </a:r>
            <a:r>
              <a:rPr lang="zh-TW" altLang="en-US" sz="2000" dirty="0"/>
              <a:t>分鐘檔案，檔案名稱為第一個檔案名稱後面加</a:t>
            </a:r>
            <a:r>
              <a:rPr lang="en-US" altLang="zh-TW" sz="2000" dirty="0"/>
              <a:t>_5min</a:t>
            </a:r>
          </a:p>
        </p:txBody>
      </p:sp>
      <p:grpSp>
        <p:nvGrpSpPr>
          <p:cNvPr id="17" name="群組 16">
            <a:extLst>
              <a:ext uri="{FF2B5EF4-FFF2-40B4-BE49-F238E27FC236}">
                <a16:creationId xmlns:a16="http://schemas.microsoft.com/office/drawing/2014/main" id="{5C1DE783-3F11-35F2-953C-449A11DF02E7}"/>
              </a:ext>
            </a:extLst>
          </p:cNvPr>
          <p:cNvGrpSpPr/>
          <p:nvPr/>
        </p:nvGrpSpPr>
        <p:grpSpPr>
          <a:xfrm>
            <a:off x="7111948" y="897806"/>
            <a:ext cx="4759820" cy="4330899"/>
            <a:chOff x="5716595" y="972296"/>
            <a:chExt cx="6044547" cy="5499855"/>
          </a:xfrm>
        </p:grpSpPr>
        <p:pic>
          <p:nvPicPr>
            <p:cNvPr id="3" name="圖片 2">
              <a:extLst>
                <a:ext uri="{FF2B5EF4-FFF2-40B4-BE49-F238E27FC236}">
                  <a16:creationId xmlns:a16="http://schemas.microsoft.com/office/drawing/2014/main" id="{27F623C1-090D-4749-10FB-E7E93865F46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6732"/>
            <a:stretch/>
          </p:blipFill>
          <p:spPr>
            <a:xfrm>
              <a:off x="5716595" y="972296"/>
              <a:ext cx="6044547" cy="2182607"/>
            </a:xfrm>
            <a:prstGeom prst="rect">
              <a:avLst/>
            </a:prstGeom>
          </p:spPr>
        </p:pic>
        <p:pic>
          <p:nvPicPr>
            <p:cNvPr id="16" name="圖片 15">
              <a:extLst>
                <a:ext uri="{FF2B5EF4-FFF2-40B4-BE49-F238E27FC236}">
                  <a16:creationId xmlns:a16="http://schemas.microsoft.com/office/drawing/2014/main" id="{D2222912-9DCF-D82B-8D43-2CD5A9C865F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16595" y="3154903"/>
              <a:ext cx="6038793" cy="3317248"/>
            </a:xfrm>
            <a:prstGeom prst="rect">
              <a:avLst/>
            </a:prstGeom>
          </p:spPr>
        </p:pic>
      </p:grpSp>
      <p:pic>
        <p:nvPicPr>
          <p:cNvPr id="6" name="圖片 5">
            <a:extLst>
              <a:ext uri="{FF2B5EF4-FFF2-40B4-BE49-F238E27FC236}">
                <a16:creationId xmlns:a16="http://schemas.microsoft.com/office/drawing/2014/main" id="{CE3E1E76-8A21-9843-6F4E-C8027CF951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0242" y="3878900"/>
            <a:ext cx="4707633" cy="2699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0042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35014A0B-1E01-8AF1-7E87-20425DF7A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823" y="135143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XML-&gt;CSV-&gt;60 MIN </a:t>
            </a:r>
            <a:r>
              <a:rPr lang="zh-TW" altLang="en-US" dirty="0"/>
              <a:t>程序</a:t>
            </a:r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8DC501A-ABC1-435D-C5B2-EA5D4C542D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752" y="861418"/>
            <a:ext cx="6751123" cy="5572633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00000"/>
              </a:lnSpc>
              <a:buFont typeface="+mj-ea"/>
              <a:buAutoNum type="ea1ChtPeriod"/>
            </a:pPr>
            <a:r>
              <a:rPr lang="zh-TW" altLang="en-US" sz="2000" dirty="0"/>
              <a:t>將</a:t>
            </a:r>
            <a:r>
              <a:rPr lang="en-US" altLang="zh-TW" sz="2000" dirty="0">
                <a:solidFill>
                  <a:srgbClr val="FF0000"/>
                </a:solidFill>
              </a:rPr>
              <a:t>X2CSV_60min.exe</a:t>
            </a:r>
            <a:r>
              <a:rPr lang="zh-TW" altLang="en-US" sz="2000" dirty="0"/>
              <a:t>與原始 *</a:t>
            </a:r>
            <a:r>
              <a:rPr lang="en-US" altLang="zh-TW" sz="2000" dirty="0"/>
              <a:t>XML</a:t>
            </a:r>
            <a:r>
              <a:rPr lang="zh-TW" altLang="en-US" sz="2000" dirty="0"/>
              <a:t>檔案</a:t>
            </a:r>
            <a:r>
              <a:rPr lang="en-US" altLang="zh-TW" sz="2000" dirty="0"/>
              <a:t> </a:t>
            </a:r>
            <a:r>
              <a:rPr lang="zh-TW" altLang="en-US" sz="2000" dirty="0"/>
              <a:t>放在同一工作目錄</a:t>
            </a:r>
            <a:endParaRPr lang="en-US" altLang="zh-TW" sz="2000" dirty="0"/>
          </a:p>
          <a:p>
            <a:pPr marL="457200" indent="-457200">
              <a:lnSpc>
                <a:spcPct val="100000"/>
              </a:lnSpc>
              <a:buFont typeface="+mj-lt"/>
              <a:buAutoNum type="ea1ChtPeriod"/>
            </a:pPr>
            <a:r>
              <a:rPr lang="zh-TW" altLang="en-US" sz="2000" dirty="0"/>
              <a:t>程式會分為二階段執行執行</a:t>
            </a:r>
            <a:endParaRPr lang="en-US" altLang="zh-TW" sz="2000" dirty="0"/>
          </a:p>
          <a:p>
            <a:pPr marL="914400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TW" altLang="en-US" sz="1800" dirty="0">
                <a:solidFill>
                  <a:srgbClr val="0033CC"/>
                </a:solidFill>
              </a:rPr>
              <a:t>程序</a:t>
            </a:r>
            <a:r>
              <a:rPr lang="en-US" altLang="zh-TW" sz="1800" dirty="0">
                <a:solidFill>
                  <a:srgbClr val="0033CC"/>
                </a:solidFill>
              </a:rPr>
              <a:t>1/2</a:t>
            </a:r>
            <a:r>
              <a:rPr lang="zh-TW" altLang="en-US" sz="1800" dirty="0">
                <a:solidFill>
                  <a:srgbClr val="0033CC"/>
                </a:solidFill>
              </a:rPr>
              <a:t>：</a:t>
            </a:r>
            <a:r>
              <a:rPr lang="en-US" altLang="zh-TW" sz="1800" dirty="0">
                <a:solidFill>
                  <a:srgbClr val="0033CC"/>
                </a:solidFill>
              </a:rPr>
              <a:t>xml</a:t>
            </a:r>
            <a:r>
              <a:rPr lang="zh-TW" altLang="en-US" sz="1800" dirty="0">
                <a:solidFill>
                  <a:srgbClr val="0033CC"/>
                </a:solidFill>
              </a:rPr>
              <a:t>轉換為</a:t>
            </a:r>
            <a:r>
              <a:rPr lang="en-US" altLang="zh-TW" sz="1800" dirty="0">
                <a:solidFill>
                  <a:srgbClr val="0033CC"/>
                </a:solidFill>
              </a:rPr>
              <a:t>CSV</a:t>
            </a:r>
            <a:r>
              <a:rPr lang="zh-TW" altLang="en-US" sz="1800" dirty="0">
                <a:solidFill>
                  <a:srgbClr val="0033CC"/>
                </a:solidFill>
              </a:rPr>
              <a:t>程式</a:t>
            </a:r>
            <a:r>
              <a:rPr lang="en-US" altLang="zh-TW" sz="1800" dirty="0">
                <a:solidFill>
                  <a:srgbClr val="0033CC"/>
                </a:solidFill>
              </a:rPr>
              <a:t>(</a:t>
            </a:r>
            <a:r>
              <a:rPr lang="zh-TW" altLang="en-US" sz="1800" dirty="0">
                <a:solidFill>
                  <a:srgbClr val="0033CC"/>
                </a:solidFill>
              </a:rPr>
              <a:t>可篩選特定欄位</a:t>
            </a:r>
            <a:r>
              <a:rPr lang="en-US" altLang="zh-TW" sz="1800" dirty="0">
                <a:solidFill>
                  <a:srgbClr val="0033CC"/>
                </a:solidFill>
              </a:rPr>
              <a:t>)</a:t>
            </a:r>
          </a:p>
          <a:p>
            <a:pPr marL="1371600" lvl="2" indent="-457200">
              <a:lnSpc>
                <a:spcPct val="100000"/>
              </a:lnSpc>
              <a:buFont typeface="Wingdings" panose="05000000000000000000" pitchFamily="2" charset="2"/>
              <a:buAutoNum type="circleNumWdWhitePlain"/>
            </a:pPr>
            <a:r>
              <a:rPr lang="zh-TW" altLang="en-US" sz="1400" dirty="0">
                <a:solidFill>
                  <a:srgbClr val="FF0000"/>
                </a:solidFill>
              </a:rPr>
              <a:t>請輸入要篩選輸出的欄位名稱</a:t>
            </a:r>
            <a:r>
              <a:rPr lang="en-US" altLang="zh-TW" sz="1400" dirty="0">
                <a:solidFill>
                  <a:srgbClr val="FF0000"/>
                </a:solidFill>
              </a:rPr>
              <a:t>(VDID </a:t>
            </a:r>
            <a:r>
              <a:rPr lang="zh-TW" altLang="en-US" sz="1400" dirty="0">
                <a:solidFill>
                  <a:srgbClr val="FF0000"/>
                </a:solidFill>
              </a:rPr>
              <a:t>或是 </a:t>
            </a:r>
            <a:r>
              <a:rPr lang="en-US" altLang="zh-TW" sz="1400" dirty="0" err="1">
                <a:solidFill>
                  <a:srgbClr val="FF0000"/>
                </a:solidFill>
              </a:rPr>
              <a:t>LinkID</a:t>
            </a:r>
            <a:r>
              <a:rPr lang="en-US" altLang="zh-TW" sz="1400" dirty="0">
                <a:solidFill>
                  <a:srgbClr val="FF0000"/>
                </a:solidFill>
              </a:rPr>
              <a:t>):</a:t>
            </a:r>
          </a:p>
          <a:p>
            <a:pPr marL="1371600" lvl="2" indent="-457200">
              <a:lnSpc>
                <a:spcPct val="100000"/>
              </a:lnSpc>
              <a:buFont typeface="Wingdings" panose="05000000000000000000" pitchFamily="2" charset="2"/>
              <a:buAutoNum type="circleNumWdWhitePlain"/>
            </a:pPr>
            <a:r>
              <a:rPr lang="zh-TW" altLang="en-US" sz="1400" dirty="0">
                <a:solidFill>
                  <a:srgbClr val="FF0000"/>
                </a:solidFill>
              </a:rPr>
              <a:t>請輸入輸出的欄位內容</a:t>
            </a:r>
            <a:r>
              <a:rPr lang="en-US" altLang="zh-TW" sz="1400" dirty="0">
                <a:solidFill>
                  <a:srgbClr val="FF0000"/>
                </a:solidFill>
              </a:rPr>
              <a:t>(</a:t>
            </a:r>
            <a:r>
              <a:rPr lang="zh-TW" altLang="en-US" sz="1400" dirty="0">
                <a:solidFill>
                  <a:srgbClr val="FF0000"/>
                </a:solidFill>
              </a:rPr>
              <a:t>例如 </a:t>
            </a:r>
            <a:r>
              <a:rPr lang="en-US" altLang="zh-TW" sz="1400" dirty="0">
                <a:solidFill>
                  <a:srgbClr val="FF0000"/>
                </a:solidFill>
              </a:rPr>
              <a:t>0000101145010N):</a:t>
            </a:r>
          </a:p>
          <a:p>
            <a:pPr marL="914400" lvl="1" indent="-457200">
              <a:lnSpc>
                <a:spcPct val="100000"/>
              </a:lnSpc>
              <a:buFont typeface="+mj-lt"/>
              <a:buAutoNum type="arabicPeriod"/>
            </a:pPr>
            <a:r>
              <a:rPr lang="zh-TW" altLang="en-US" sz="1800" dirty="0">
                <a:solidFill>
                  <a:srgbClr val="0033CC"/>
                </a:solidFill>
              </a:rPr>
              <a:t>程序</a:t>
            </a:r>
            <a:r>
              <a:rPr lang="en-US" altLang="zh-TW" sz="1800" dirty="0">
                <a:solidFill>
                  <a:srgbClr val="0033CC"/>
                </a:solidFill>
              </a:rPr>
              <a:t>2/2</a:t>
            </a:r>
            <a:r>
              <a:rPr lang="zh-TW" altLang="en-US" sz="1800" dirty="0">
                <a:solidFill>
                  <a:srgbClr val="0033CC"/>
                </a:solidFill>
              </a:rPr>
              <a:t>：一分鐘</a:t>
            </a:r>
            <a:r>
              <a:rPr lang="en-US" altLang="zh-TW" sz="1800" dirty="0">
                <a:solidFill>
                  <a:srgbClr val="0033CC"/>
                </a:solidFill>
              </a:rPr>
              <a:t>CSV</a:t>
            </a:r>
            <a:r>
              <a:rPr lang="zh-TW" altLang="en-US" sz="1800" dirty="0">
                <a:solidFill>
                  <a:srgbClr val="0033CC"/>
                </a:solidFill>
              </a:rPr>
              <a:t>，轉換為五分鐘</a:t>
            </a:r>
            <a:r>
              <a:rPr lang="en-US" altLang="zh-TW" sz="1800" dirty="0">
                <a:solidFill>
                  <a:srgbClr val="0033CC"/>
                </a:solidFill>
              </a:rPr>
              <a:t>CSV</a:t>
            </a:r>
            <a:r>
              <a:rPr lang="zh-TW" altLang="en-US" sz="1800" dirty="0">
                <a:solidFill>
                  <a:srgbClr val="0033CC"/>
                </a:solidFill>
              </a:rPr>
              <a:t>檔案</a:t>
            </a:r>
            <a:endParaRPr lang="en-US" altLang="zh-TW" sz="1800" dirty="0">
              <a:solidFill>
                <a:srgbClr val="0033CC"/>
              </a:solidFill>
            </a:endParaRPr>
          </a:p>
          <a:p>
            <a:pPr marL="457200" indent="-457200">
              <a:lnSpc>
                <a:spcPct val="100000"/>
              </a:lnSpc>
              <a:buFont typeface="+mj-ea"/>
              <a:buAutoNum type="ea1ChtPeriod"/>
            </a:pPr>
            <a:r>
              <a:rPr lang="zh-TW" altLang="en-US" sz="2000" dirty="0"/>
              <a:t>於 </a:t>
            </a:r>
            <a:r>
              <a:rPr lang="en-US" altLang="zh-TW" sz="2000" dirty="0"/>
              <a:t>\</a:t>
            </a:r>
            <a:r>
              <a:rPr lang="en-US" altLang="zh-TW" sz="2000" dirty="0" err="1"/>
              <a:t>converted_csv</a:t>
            </a:r>
            <a:r>
              <a:rPr lang="zh-TW" altLang="en-US" sz="2000" dirty="0"/>
              <a:t>目錄位置下會將每</a:t>
            </a:r>
            <a:r>
              <a:rPr lang="en-US" altLang="zh-TW" sz="2000" dirty="0"/>
              <a:t>60</a:t>
            </a:r>
            <a:r>
              <a:rPr lang="zh-TW" altLang="en-US" sz="2000" dirty="0"/>
              <a:t>個</a:t>
            </a:r>
            <a:r>
              <a:rPr lang="en-US" altLang="zh-TW" sz="2000" dirty="0"/>
              <a:t>1</a:t>
            </a:r>
            <a:r>
              <a:rPr lang="zh-TW" altLang="en-US" sz="2000" dirty="0"/>
              <a:t>分鐘檔案，合成一個</a:t>
            </a:r>
            <a:r>
              <a:rPr lang="en-US" altLang="zh-TW" sz="2000" dirty="0"/>
              <a:t>60</a:t>
            </a:r>
            <a:r>
              <a:rPr lang="zh-TW" altLang="en-US" sz="2000" dirty="0"/>
              <a:t>分鐘檔案，檔案名稱為第一個檔案名稱後面加</a:t>
            </a:r>
            <a:r>
              <a:rPr lang="en-US" altLang="zh-TW" sz="2000" dirty="0"/>
              <a:t>_60m</a:t>
            </a:r>
          </a:p>
          <a:p>
            <a:pPr>
              <a:lnSpc>
                <a:spcPct val="100000"/>
              </a:lnSpc>
            </a:pPr>
            <a:endParaRPr lang="en-US" altLang="zh-TW" sz="2000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148F76E8-82CE-90AA-7E5E-2CED9ABE74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5487" y="3647734"/>
            <a:ext cx="5726513" cy="3010241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3BE78D0B-282D-A5CE-DCFB-B533C424BF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382" y="4107398"/>
            <a:ext cx="5795475" cy="2438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679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218</Words>
  <Application>Microsoft Office PowerPoint</Application>
  <PresentationFormat>寬螢幕</PresentationFormat>
  <Paragraphs>16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Wingdings</vt:lpstr>
      <vt:lpstr>Office 佈景主題</vt:lpstr>
      <vt:lpstr>XML-&gt;CSV-&gt;5 MIN 程序</vt:lpstr>
      <vt:lpstr>XML-&gt;CSV-&gt;60 MIN 程序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XML-&gt;CSV-&gt;5 MIN 程序</dc:title>
  <dc:creator>耀立 王</dc:creator>
  <cp:lastModifiedBy>耀立 王</cp:lastModifiedBy>
  <cp:revision>6</cp:revision>
  <dcterms:created xsi:type="dcterms:W3CDTF">2023-02-24T02:23:27Z</dcterms:created>
  <dcterms:modified xsi:type="dcterms:W3CDTF">2023-03-17T06:12:30Z</dcterms:modified>
</cp:coreProperties>
</file>